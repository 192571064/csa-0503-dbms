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5"/>
  </p:notesMasterIdLst>
  <p:sldIdLst>
    <p:sldId id="264" r:id="rId5"/>
    <p:sldId id="313" r:id="rId6"/>
    <p:sldId id="314" r:id="rId7"/>
    <p:sldId id="315" r:id="rId8"/>
    <p:sldId id="317" r:id="rId9"/>
    <p:sldId id="318" r:id="rId10"/>
    <p:sldId id="319" r:id="rId11"/>
    <p:sldId id="320" r:id="rId12"/>
    <p:sldId id="322" r:id="rId13"/>
    <p:sldId id="32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19" autoAdjust="0"/>
  </p:normalViewPr>
  <p:slideViewPr>
    <p:cSldViewPr snapToGrid="0">
      <p:cViewPr varScale="1">
        <p:scale>
          <a:sx n="48" d="100"/>
          <a:sy n="48" d="100"/>
        </p:scale>
        <p:origin x="6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6DBDFE-DD3D-4291-A404-1B97A83A6EA8}" type="datetimeFigureOut">
              <a:rPr lang="en-US" smtClean="0"/>
              <a:t>7/21/2026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456DE3-4E01-4AFD-AD42-42312842ED8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961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9870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7/21/2026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701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7/21/2026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881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7/21/2026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732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7/21/2026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582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7/21/2026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732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7/21/2026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587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7/21/2026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327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7/21/2026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160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7/21/2026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99103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7/21/2026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90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flower illustrations">
            <a:extLst>
              <a:ext uri="{FF2B5EF4-FFF2-40B4-BE49-F238E27FC236}">
                <a16:creationId xmlns:a16="http://schemas.microsoft.com/office/drawing/2014/main" id="{46768272-0F6A-4E58-A45C-F10D015D89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0"/>
            <a:ext cx="12191980" cy="6858000"/>
          </a:xfrm>
          <a:prstGeom prst="rect">
            <a:avLst/>
          </a:prstGeom>
        </p:spPr>
      </p:pic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BF9FFE17-DE95-4821-ACC1-B90C95449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3CF76AF-FF72-4430-A772-058403290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1132" y="2091263"/>
            <a:ext cx="8649738" cy="2590800"/>
          </a:xfrm>
        </p:spPr>
        <p:txBody>
          <a:bodyPr>
            <a:normAutofit fontScale="90000"/>
          </a:bodyPr>
          <a:lstStyle/>
          <a:p>
            <a:r>
              <a:rPr lang="en-IN" dirty="0"/>
              <a:t>Data Independence in DBMS</a:t>
            </a:r>
            <a:endParaRPr lang="en-US" sz="6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99659" y="4191934"/>
            <a:ext cx="3714508" cy="98563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SUVATHI.S</a:t>
            </a:r>
          </a:p>
          <a:p>
            <a:pPr>
              <a:spcAft>
                <a:spcPts val="600"/>
              </a:spcAft>
            </a:pPr>
            <a:r>
              <a:rPr lang="en-US" dirty="0"/>
              <a:t>192571064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B1C8180-2FDD-4202-8C45-4057CB1AB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D6E86CC6-13EA-4A88-86AD-CF27BF52C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1267730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3F80B441-4F7D-4B40-8A13-FED03A1F3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941820" y="1267730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70C7FD1A-44B1-4E4C-B0C9-A8103DCCDC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1913025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8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BBBF2-0E7B-AB09-F8C1-2879ACCDF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050F2-3FC3-B3EB-89A4-4A7D9739E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6569242" cy="3849624"/>
          </a:xfrm>
        </p:spPr>
        <p:txBody>
          <a:bodyPr/>
          <a:lstStyle/>
          <a:p>
            <a:r>
              <a:rPr lang="en-IN" sz="2000" dirty="0"/>
              <a:t>DBMS uses a layered architecture to separate user data, logical design, and physical storage.</a:t>
            </a:r>
          </a:p>
          <a:p>
            <a:r>
              <a:rPr lang="en-IN" sz="2000" dirty="0"/>
              <a:t>Data independence allows one layer to change without forcing changes in other layers.</a:t>
            </a:r>
          </a:p>
          <a:p>
            <a:r>
              <a:rPr lang="en-IN" sz="2000" dirty="0"/>
              <a:t>It reduces application dependency on storage details and schema design</a:t>
            </a:r>
          </a:p>
          <a:p>
            <a:endParaRPr lang="en-IN" dirty="0"/>
          </a:p>
        </p:txBody>
      </p:sp>
      <p:pic>
        <p:nvPicPr>
          <p:cNvPr id="4" name="Picture 3" descr="Three-Level DBMS Architecture">
            <a:extLst>
              <a:ext uri="{FF2B5EF4-FFF2-40B4-BE49-F238E27FC236}">
                <a16:creationId xmlns:a16="http://schemas.microsoft.com/office/drawing/2014/main" id="{AC434432-6D0B-DF0A-2512-8A676A6E5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7200" y="1795807"/>
            <a:ext cx="3048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079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9C942-0832-A640-B9C4-0858785BB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Data Independence?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CDD16-9AEC-4B84-04B6-B3863478E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dirty="0"/>
              <a:t>Data independence means schema changes at one level do not require changes at the next higher level. </a:t>
            </a:r>
          </a:p>
          <a:p>
            <a:r>
              <a:rPr lang="en-IN" sz="2000" dirty="0"/>
              <a:t>It is one of the key benefits of the three-schema architecture.</a:t>
            </a:r>
          </a:p>
          <a:p>
            <a:r>
              <a:rPr lang="en-IN" sz="2000" dirty="0"/>
              <a:t>changes inside the database should not force programmers to rewrite application programs.</a:t>
            </a:r>
          </a:p>
        </p:txBody>
      </p:sp>
    </p:spTree>
    <p:extLst>
      <p:ext uri="{BB962C8B-B14F-4D97-AF65-F5344CB8AC3E}">
        <p14:creationId xmlns:p14="http://schemas.microsoft.com/office/powerpoint/2010/main" val="3923720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542D7-1E83-90AE-B8DC-8A1D307B3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A60D1-FEB9-4191-6768-CF921A7E4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DBMS Three-Schema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A2FC7-1442-01A8-1386-59C2F40A15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6922168" cy="3849624"/>
          </a:xfrm>
        </p:spPr>
        <p:txBody>
          <a:bodyPr/>
          <a:lstStyle/>
          <a:p>
            <a:r>
              <a:rPr lang="en-IN" sz="2000" dirty="0"/>
              <a:t>External schema defines user-specific views of the data.</a:t>
            </a:r>
          </a:p>
          <a:p>
            <a:r>
              <a:rPr lang="en-IN" sz="2000" dirty="0"/>
              <a:t>Conceptual schema represents the full logical structure of the database.</a:t>
            </a:r>
          </a:p>
          <a:p>
            <a:r>
              <a:rPr lang="en-IN" sz="2000" dirty="0"/>
              <a:t>Internal schema defines physical storage, file organization, and access paths.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6CE757-7CDA-2032-4C24-23B081BB5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8968" y="2107525"/>
            <a:ext cx="3673158" cy="2592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900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07C84-00F2-D6D6-BA7C-FDAC08FD1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Physical Data Independence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56B25-E4C9-82F8-B4EC-5C2300471A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dirty="0"/>
              <a:t>You can change storage structures without changing table definitions.</a:t>
            </a:r>
          </a:p>
          <a:p>
            <a:r>
              <a:rPr lang="en-IN" sz="2000" dirty="0"/>
              <a:t>Examples include changing HDD to SSD, adding indexes, or reorganizing files.</a:t>
            </a:r>
          </a:p>
          <a:p>
            <a:r>
              <a:rPr lang="en-IN" sz="2000" dirty="0"/>
              <a:t>It helps improve performance without modifying application programs.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5014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201CA-FB62-A47A-450E-59225936C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Logical Data Independence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BCB7E-0EAA-3D5D-0B1E-E50151FCBA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dirty="0"/>
              <a:t>You can change the logical structure of the database without changing user views.</a:t>
            </a:r>
          </a:p>
          <a:p>
            <a:r>
              <a:rPr lang="en-IN" sz="2000" dirty="0"/>
              <a:t>Examples include adding a new attribute, splitting a table, or merging records.</a:t>
            </a:r>
          </a:p>
          <a:p>
            <a:r>
              <a:rPr lang="en-IN" sz="2000" dirty="0"/>
              <a:t>It is important when business requirements evolve over time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8458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1C213-7DE9-D5ED-2166-305D79BB0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Significance in DBMS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2118D-9970-8371-ACDC-D796916F9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dirty="0"/>
              <a:t>It supports modular database design by separating concerns at different levels.</a:t>
            </a:r>
          </a:p>
          <a:p>
            <a:r>
              <a:rPr lang="en-IN" sz="2000" dirty="0"/>
              <a:t>It reduces maintenance cost when schema changes occur.</a:t>
            </a:r>
          </a:p>
          <a:p>
            <a:r>
              <a:rPr lang="en-IN" sz="2000" dirty="0"/>
              <a:t>It improves flexibility, scalability, and long-term system stability.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6014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DBE3F-6533-B3D2-1BC7-207A9A7AE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6512B-A0F4-974C-DEA6-DD0E4EAC4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dirty="0"/>
              <a:t>It supports schema evolution without rewriting all application code.</a:t>
            </a:r>
          </a:p>
          <a:p>
            <a:r>
              <a:rPr lang="en-IN" sz="2000" dirty="0"/>
              <a:t>Makes it easier to modify, update, and maintain the database.</a:t>
            </a:r>
          </a:p>
          <a:p>
            <a:r>
              <a:rPr lang="en-IN" sz="2000" dirty="0"/>
              <a:t>It allows DBAs to tune performance while keeping the logical model stable.</a:t>
            </a:r>
          </a:p>
          <a:p>
            <a:r>
              <a:rPr lang="en-IN" sz="2000" dirty="0"/>
              <a:t>Multiple users and applications can access the same database independently.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8645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B9FC3-0AD9-5C18-E6AD-60BA40ECF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6AB59-15A7-FEA5-4F90-467C40301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Real time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AB988-3A4F-BD52-56F1-AE387CE7B7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b="1" dirty="0"/>
              <a:t>Banking Systems</a:t>
            </a:r>
            <a:r>
              <a:rPr lang="en-IN" sz="1800" dirty="0"/>
              <a:t> Update customer records without affecting banking applications. </a:t>
            </a:r>
          </a:p>
          <a:p>
            <a:r>
              <a:rPr lang="en-IN" sz="1800" b="1" dirty="0"/>
              <a:t>E-Commerce Platforms</a:t>
            </a:r>
            <a:r>
              <a:rPr lang="en-IN" sz="1800" dirty="0"/>
              <a:t> Add new products and categories without changing the shopping app. </a:t>
            </a:r>
          </a:p>
          <a:p>
            <a:r>
              <a:rPr lang="en-IN" sz="1800" b="1" dirty="0"/>
              <a:t>Hospital Management Systems</a:t>
            </a:r>
            <a:r>
              <a:rPr lang="en-IN" sz="1800" dirty="0"/>
              <a:t> Add new patient or medical records without affecting hospital software. </a:t>
            </a:r>
          </a:p>
          <a:p>
            <a:r>
              <a:rPr lang="en-IN" sz="1800" b="1" dirty="0"/>
              <a:t>University Management Systems</a:t>
            </a:r>
            <a:r>
              <a:rPr lang="en-IN" sz="1800" dirty="0"/>
              <a:t> Add new courses, subjects, or student details without changing existing portals. </a:t>
            </a:r>
          </a:p>
          <a:p>
            <a:r>
              <a:rPr lang="en-IN" sz="1800" b="1" dirty="0"/>
              <a:t>Railway Reservation Systems</a:t>
            </a:r>
            <a:r>
              <a:rPr lang="en-IN" sz="1800" dirty="0"/>
              <a:t> Add new trains and routes without affecting ticket booking.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76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E48BD-90AF-F35C-C633-A4A01EA5D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Case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345F9-AB30-693A-D63F-D1FADFE397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sz="2000" b="1" dirty="0"/>
              <a:t>E-Commerce Website </a:t>
            </a:r>
          </a:p>
          <a:p>
            <a:r>
              <a:rPr lang="en-IN" sz="2000" b="1" dirty="0"/>
              <a:t>Example:</a:t>
            </a:r>
            <a:r>
              <a:rPr lang="en-IN" sz="2000" dirty="0"/>
              <a:t> Amazon, Flipkart</a:t>
            </a:r>
          </a:p>
          <a:p>
            <a:r>
              <a:rPr lang="en-IN" sz="2000" dirty="0"/>
              <a:t>Products are added or removed every day. </a:t>
            </a:r>
          </a:p>
          <a:p>
            <a:r>
              <a:rPr lang="en-IN" sz="2000" dirty="0"/>
              <a:t>Product tables may be split into separate tables for specifications, reviews, and pricing. </a:t>
            </a:r>
          </a:p>
          <a:p>
            <a:r>
              <a:rPr lang="en-IN" sz="2000" dirty="0"/>
              <a:t>Customers can still browse and purchase products normally. </a:t>
            </a:r>
          </a:p>
          <a:p>
            <a:r>
              <a:rPr lang="en-IN" sz="2000" b="1" dirty="0"/>
              <a:t>Data Independence Used:</a:t>
            </a:r>
            <a:endParaRPr lang="en-IN" sz="2000" dirty="0"/>
          </a:p>
          <a:p>
            <a:r>
              <a:rPr lang="en-IN" sz="2000" dirty="0"/>
              <a:t>Faster search using indexing. </a:t>
            </a:r>
          </a:p>
          <a:p>
            <a:r>
              <a:rPr lang="en-IN" sz="2000" dirty="0"/>
              <a:t>Database restructuring without affecting the shopping app.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26703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Savon">
      <a:majorFont>
        <a:latin typeface="Avenir Next LT Pro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46">
    <a:dk1>
      <a:sysClr val="windowText" lastClr="000000"/>
    </a:dk1>
    <a:lt1>
      <a:sysClr val="window" lastClr="FFFFFF"/>
    </a:lt1>
    <a:dk2>
      <a:srgbClr val="121316"/>
    </a:dk2>
    <a:lt2>
      <a:srgbClr val="FEFCF7"/>
    </a:lt2>
    <a:accent1>
      <a:srgbClr val="8394A4"/>
    </a:accent1>
    <a:accent2>
      <a:srgbClr val="65739F"/>
    </a:accent2>
    <a:accent3>
      <a:srgbClr val="B2AC8A"/>
    </a:accent3>
    <a:accent4>
      <a:srgbClr val="879BB3"/>
    </a:accent4>
    <a:accent5>
      <a:srgbClr val="D7B579"/>
    </a:accent5>
    <a:accent6>
      <a:srgbClr val="8A9B89"/>
    </a:accent6>
    <a:hlink>
      <a:srgbClr val="85C4D2"/>
    </a:hlink>
    <a:folHlink>
      <a:srgbClr val="8E8CA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46BCBFB-BBC7-42F1-95CD-058E172363A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1F91CDEB-92ED-41DC-BF33-2916A76876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259D436-C82E-43E0-8A01-53DF9CED603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{D3D0EF81-1263-4882-B036-02F5E706D3C4}TF522ea272-7fed-4917-a421-5e6ae99a6bbed5eddc9a_win32-854160eadf3d</Template>
  <TotalTime>39</TotalTime>
  <Words>427</Words>
  <Application>Microsoft Office PowerPoint</Application>
  <PresentationFormat>Widescreen</PresentationFormat>
  <Paragraphs>48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Avenir Next LT Pro</vt:lpstr>
      <vt:lpstr>Avenir Next LT Pro Light</vt:lpstr>
      <vt:lpstr>Calibri</vt:lpstr>
      <vt:lpstr>Garamond</vt:lpstr>
      <vt:lpstr>SavonVTI</vt:lpstr>
      <vt:lpstr>Data Independence in DBMS</vt:lpstr>
      <vt:lpstr>INTRODUCTION</vt:lpstr>
      <vt:lpstr>What is Data Independence?</vt:lpstr>
      <vt:lpstr>DBMS Three-Schema Architecture</vt:lpstr>
      <vt:lpstr>Physical Data Independence </vt:lpstr>
      <vt:lpstr>Logical Data Independence</vt:lpstr>
      <vt:lpstr>Significance in DBMS Architecture</vt:lpstr>
      <vt:lpstr>Functions</vt:lpstr>
      <vt:lpstr>Real time application</vt:lpstr>
      <vt:lpstr>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suruthisis20@gmail.com</dc:creator>
  <cp:lastModifiedBy>suruthisis20@gmail.com</cp:lastModifiedBy>
  <cp:revision>3</cp:revision>
  <dcterms:created xsi:type="dcterms:W3CDTF">2026-07-20T15:13:56Z</dcterms:created>
  <dcterms:modified xsi:type="dcterms:W3CDTF">2026-07-21T08:18:48Z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